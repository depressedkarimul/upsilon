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6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E754C-2FD9-42F4-A279-5A6A76976F39}" type="datetimeFigureOut">
              <a:rPr lang="en-AU" smtClean="0"/>
              <a:t>23/06/2014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63FB3-4A15-4A59-A83B-FC0906631B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3031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6/23/2014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6/23/2014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6/23/2014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6/23/2014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6/23/2014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Elasticity (Part 2</a:t>
            </a:r>
            <a:r>
              <a:rPr lang="en-AU" dirty="0" smtClean="0"/>
              <a:t>)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8517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Price Elasticity of Demand Along a Straight-Line Demand Curve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r>
              <a:rPr lang="en-AU" dirty="0" smtClean="0"/>
              <a:t>The price elasticity of demand for a straight-line downward-sloping demand curve varies from highly elastic to highly inelastic.</a:t>
            </a:r>
          </a:p>
          <a:p>
            <a:endParaRPr lang="en-AU" dirty="0"/>
          </a:p>
          <a:p>
            <a:r>
              <a:rPr lang="en-AU" dirty="0" smtClean="0"/>
              <a:t>As we move towards the right (price falling and Qd rising), elasticity of the demand curve reduces.</a:t>
            </a:r>
          </a:p>
          <a:p>
            <a:endParaRPr lang="en-AU" dirty="0"/>
          </a:p>
          <a:p>
            <a:r>
              <a:rPr lang="en-AU" dirty="0" smtClean="0"/>
              <a:t>As elasticity is reducing from left to right, total revenue  will also change.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7546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Price Elasticity of Demand Along a Straight-Line Demand </a:t>
            </a:r>
            <a:r>
              <a:rPr lang="en-AU" dirty="0" smtClean="0"/>
              <a:t>Curve (</a:t>
            </a:r>
            <a:r>
              <a:rPr lang="en-AU" dirty="0" err="1" smtClean="0"/>
              <a:t>Cont</a:t>
            </a:r>
            <a:r>
              <a:rPr lang="en-AU" dirty="0" smtClean="0"/>
              <a:t>)</a:t>
            </a:r>
            <a:endParaRPr lang="en-AU" dirty="0"/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381000" y="2286000"/>
            <a:ext cx="8469313" cy="4149725"/>
            <a:chOff x="222" y="800"/>
            <a:chExt cx="5335" cy="2614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222" y="800"/>
              <a:ext cx="5335" cy="26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pic>
          <p:nvPicPr>
            <p:cNvPr id="6" name="Picture 7" descr="D:\ESWORK\SWPUB\Arnold PPT\Art\Art Ch18\Exhibit 4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" y="840"/>
              <a:ext cx="2602" cy="2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D:\ESWORK\SWPUB\Arnold PPT\Art\Art Ch18\Ch18 EX4 table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" y="847"/>
              <a:ext cx="2465" cy="2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4419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Determinants of Price Elasticity of Demand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Four Factors determine Price Elasticity of Demand:</a:t>
            </a:r>
          </a:p>
          <a:p>
            <a:pPr marL="0" indent="0">
              <a:buNone/>
            </a:pPr>
            <a:endParaRPr lang="en-AU" dirty="0" smtClean="0"/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Number of substitutes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Necessities versus luxuries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Percentage of one’s budget spent on the good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Time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9888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Determinants of Price Elasticity of </a:t>
            </a:r>
            <a:r>
              <a:rPr lang="en-AU" dirty="0" smtClean="0"/>
              <a:t>Demand (</a:t>
            </a:r>
            <a:r>
              <a:rPr lang="en-AU" dirty="0" err="1" smtClean="0"/>
              <a:t>Cont</a:t>
            </a:r>
            <a:r>
              <a:rPr lang="en-AU" dirty="0" smtClean="0"/>
              <a:t>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AU" b="1" dirty="0" smtClean="0"/>
              <a:t>Number of Substitutes</a:t>
            </a:r>
            <a:r>
              <a:rPr lang="en-AU" dirty="0" smtClean="0"/>
              <a:t>:</a:t>
            </a:r>
          </a:p>
          <a:p>
            <a:pPr>
              <a:buFont typeface="Wingdings"/>
              <a:buChar char="è"/>
            </a:pPr>
            <a:r>
              <a:rPr lang="en-AU" dirty="0" smtClean="0">
                <a:sym typeface="Wingdings" panose="05000000000000000000" pitchFamily="2" charset="2"/>
              </a:rPr>
              <a:t>The more substitutes there are for a good, the higher the price elasticity of demand will be; the fewer </a:t>
            </a:r>
            <a:r>
              <a:rPr lang="en-AU" dirty="0">
                <a:sym typeface="Wingdings" panose="05000000000000000000" pitchFamily="2" charset="2"/>
              </a:rPr>
              <a:t>substitutes there are for a good, the </a:t>
            </a:r>
            <a:r>
              <a:rPr lang="en-AU" dirty="0" smtClean="0">
                <a:sym typeface="Wingdings" panose="05000000000000000000" pitchFamily="2" charset="2"/>
              </a:rPr>
              <a:t>lower </a:t>
            </a:r>
            <a:r>
              <a:rPr lang="en-AU" dirty="0">
                <a:sym typeface="Wingdings" panose="05000000000000000000" pitchFamily="2" charset="2"/>
              </a:rPr>
              <a:t>the price elasticity of demand will </a:t>
            </a:r>
            <a:r>
              <a:rPr lang="en-AU" dirty="0" smtClean="0">
                <a:sym typeface="Wingdings" panose="05000000000000000000" pitchFamily="2" charset="2"/>
              </a:rPr>
              <a:t>be.</a:t>
            </a:r>
          </a:p>
          <a:p>
            <a:pPr>
              <a:buFont typeface="Wingdings"/>
              <a:buChar char="è"/>
            </a:pPr>
            <a:r>
              <a:rPr lang="en-AU" dirty="0" smtClean="0">
                <a:sym typeface="Wingdings" panose="05000000000000000000" pitchFamily="2" charset="2"/>
              </a:rPr>
              <a:t>The more broadly defined the goods is, the fewer the substitutes it will have; the </a:t>
            </a:r>
            <a:r>
              <a:rPr lang="en-AU" dirty="0">
                <a:sym typeface="Wingdings" panose="05000000000000000000" pitchFamily="2" charset="2"/>
              </a:rPr>
              <a:t>more </a:t>
            </a:r>
            <a:r>
              <a:rPr lang="en-AU" dirty="0" smtClean="0">
                <a:sym typeface="Wingdings" panose="05000000000000000000" pitchFamily="2" charset="2"/>
              </a:rPr>
              <a:t>narrowly </a:t>
            </a:r>
            <a:r>
              <a:rPr lang="en-AU" dirty="0">
                <a:sym typeface="Wingdings" panose="05000000000000000000" pitchFamily="2" charset="2"/>
              </a:rPr>
              <a:t>defined the goods is, the </a:t>
            </a:r>
            <a:r>
              <a:rPr lang="en-AU" dirty="0" smtClean="0">
                <a:sym typeface="Wingdings" panose="05000000000000000000" pitchFamily="2" charset="2"/>
              </a:rPr>
              <a:t>more </a:t>
            </a:r>
            <a:r>
              <a:rPr lang="en-AU" dirty="0">
                <a:sym typeface="Wingdings" panose="05000000000000000000" pitchFamily="2" charset="2"/>
              </a:rPr>
              <a:t>the substitutes it will </a:t>
            </a:r>
            <a:r>
              <a:rPr lang="en-AU" dirty="0" smtClean="0">
                <a:sym typeface="Wingdings" panose="05000000000000000000" pitchFamily="2" charset="2"/>
              </a:rPr>
              <a:t>have</a:t>
            </a:r>
          </a:p>
          <a:p>
            <a:pPr>
              <a:buFont typeface="Wingdings"/>
              <a:buChar char="è"/>
            </a:pPr>
            <a:endParaRPr lang="en-AU" dirty="0">
              <a:sym typeface="Wingdings" panose="05000000000000000000" pitchFamily="2" charset="2"/>
            </a:endParaRPr>
          </a:p>
          <a:p>
            <a:r>
              <a:rPr lang="en-AU" b="1" dirty="0" smtClean="0">
                <a:sym typeface="Wingdings" panose="05000000000000000000" pitchFamily="2" charset="2"/>
              </a:rPr>
              <a:t>Necessities versus Luxuries</a:t>
            </a:r>
            <a:r>
              <a:rPr lang="en-AU" dirty="0" smtClean="0">
                <a:sym typeface="Wingdings" panose="05000000000000000000" pitchFamily="2" charset="2"/>
              </a:rPr>
              <a:t>: The more a good is considered luxury (a good we can go without) rather than a necessity (a good we can’t do without), the higher the price elasticity of demand will be.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948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Determinants of Price Elasticity of Demand (</a:t>
            </a:r>
            <a:r>
              <a:rPr lang="en-AU" dirty="0" err="1"/>
              <a:t>Cont</a:t>
            </a:r>
            <a:r>
              <a:rPr lang="en-AU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5105400"/>
          </a:xfrm>
        </p:spPr>
        <p:txBody>
          <a:bodyPr>
            <a:normAutofit lnSpcReduction="10000"/>
          </a:bodyPr>
          <a:lstStyle/>
          <a:p>
            <a:r>
              <a:rPr lang="en-AU" b="1" dirty="0" smtClean="0"/>
              <a:t>Percentage of One’s Budget Spent on the Good</a:t>
            </a:r>
            <a:r>
              <a:rPr lang="en-AU" dirty="0" smtClean="0"/>
              <a:t>:</a:t>
            </a:r>
          </a:p>
          <a:p>
            <a:pPr>
              <a:buFont typeface="Wingdings"/>
              <a:buChar char="è"/>
            </a:pPr>
            <a:r>
              <a:rPr lang="en-AU" dirty="0" smtClean="0">
                <a:sym typeface="Wingdings" panose="05000000000000000000" pitchFamily="2" charset="2"/>
              </a:rPr>
              <a:t>The greater the percentage of one’s budget that goes to purchase a good, the higher the price elasticity of demand will be; the smaller </a:t>
            </a:r>
            <a:r>
              <a:rPr lang="en-AU" dirty="0">
                <a:sym typeface="Wingdings" panose="05000000000000000000" pitchFamily="2" charset="2"/>
              </a:rPr>
              <a:t>the percentage of one’s budget that goes to purchase a good, the </a:t>
            </a:r>
            <a:r>
              <a:rPr lang="en-AU" dirty="0" err="1" smtClean="0">
                <a:sym typeface="Wingdings" panose="05000000000000000000" pitchFamily="2" charset="2"/>
              </a:rPr>
              <a:t>lowerer</a:t>
            </a:r>
            <a:r>
              <a:rPr lang="en-AU" dirty="0" smtClean="0">
                <a:sym typeface="Wingdings" panose="05000000000000000000" pitchFamily="2" charset="2"/>
              </a:rPr>
              <a:t> </a:t>
            </a:r>
            <a:r>
              <a:rPr lang="en-AU" dirty="0">
                <a:sym typeface="Wingdings" panose="05000000000000000000" pitchFamily="2" charset="2"/>
              </a:rPr>
              <a:t>the price elasticity of demand will </a:t>
            </a:r>
            <a:r>
              <a:rPr lang="en-AU" dirty="0" smtClean="0">
                <a:sym typeface="Wingdings" panose="05000000000000000000" pitchFamily="2" charset="2"/>
              </a:rPr>
              <a:t>be</a:t>
            </a:r>
          </a:p>
          <a:p>
            <a:pPr marL="0" indent="0">
              <a:buNone/>
            </a:pPr>
            <a:endParaRPr lang="en-AU" dirty="0">
              <a:sym typeface="Wingdings" panose="05000000000000000000" pitchFamily="2" charset="2"/>
            </a:endParaRPr>
          </a:p>
          <a:p>
            <a:r>
              <a:rPr lang="en-AU" b="1" dirty="0" smtClean="0">
                <a:sym typeface="Wingdings" panose="05000000000000000000" pitchFamily="2" charset="2"/>
              </a:rPr>
              <a:t>Time</a:t>
            </a:r>
            <a:r>
              <a:rPr lang="en-AU" dirty="0" smtClean="0">
                <a:sym typeface="Wingdings" panose="05000000000000000000" pitchFamily="2" charset="2"/>
              </a:rPr>
              <a:t>:</a:t>
            </a:r>
          </a:p>
          <a:p>
            <a:pPr>
              <a:buFont typeface="Wingdings"/>
              <a:buChar char="è"/>
            </a:pPr>
            <a:r>
              <a:rPr lang="en-AU" dirty="0">
                <a:sym typeface="Wingdings" panose="05000000000000000000" pitchFamily="2" charset="2"/>
              </a:rPr>
              <a:t>The more </a:t>
            </a:r>
            <a:r>
              <a:rPr lang="en-AU" dirty="0" smtClean="0">
                <a:sym typeface="Wingdings" panose="05000000000000000000" pitchFamily="2" charset="2"/>
              </a:rPr>
              <a:t>time </a:t>
            </a:r>
            <a:r>
              <a:rPr lang="en-AU" dirty="0">
                <a:sym typeface="Wingdings" panose="05000000000000000000" pitchFamily="2" charset="2"/>
              </a:rPr>
              <a:t>that passes (since the price </a:t>
            </a:r>
            <a:r>
              <a:rPr lang="en-AU" dirty="0" smtClean="0">
                <a:sym typeface="Wingdings" panose="05000000000000000000" pitchFamily="2" charset="2"/>
              </a:rPr>
              <a:t>change), the higher the price elasticity of demand for the good will be; the less time that passes, the lower the price elasticity of demand for the good.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7361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AU" dirty="0" smtClean="0"/>
              <a:t>Cross Elasticity of Demand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95400"/>
                <a:ext cx="7772400" cy="5178552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en-US" sz="2600" dirty="0" smtClean="0"/>
                  <a:t>Measures the responsiveness in the quantity demanded of one good to changes in the price of another good.</a:t>
                </a:r>
              </a:p>
              <a:p>
                <a:pPr>
                  <a:lnSpc>
                    <a:spcPct val="90000"/>
                  </a:lnSpc>
                </a:pPr>
                <a:endParaRPr lang="en-US" altLang="en-US" sz="2600" dirty="0"/>
              </a:p>
              <a:p>
                <a:pPr>
                  <a:lnSpc>
                    <a:spcPct val="90000"/>
                  </a:lnSpc>
                </a:pPr>
                <a:r>
                  <a:rPr lang="en-US" altLang="en-US" sz="2600" dirty="0" smtClean="0"/>
                  <a:t>Defined </a:t>
                </a:r>
                <a:r>
                  <a:rPr lang="en-US" altLang="en-US" sz="2600" dirty="0"/>
                  <a:t>as the percentage change in the quantity demanded of one good divided by the percentage change in the price of another good</a:t>
                </a:r>
                <a:r>
                  <a:rPr lang="en-US" altLang="en-US" sz="2600" dirty="0" smtClean="0"/>
                  <a:t>.</a:t>
                </a:r>
                <a:endParaRPr lang="en-AU" sz="2200" dirty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𝑃𝑒𝑟𝑐𝑒𝑛𝑡𝑎𝑔𝑒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𝐶h𝑎𝑛𝑔𝑒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𝑖𝑛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𝑄𝑢𝑎𝑛𝑡𝑖𝑡𝑦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𝐷𝑒𝑚𝑎𝑛𝑑𝑒𝑑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𝑜𝑛𝑒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𝑔𝑜𝑜𝑑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𝑃𝑒𝑟𝑐𝑒𝑛𝑡𝑎𝑔𝑒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𝑐h𝑎𝑛𝑔𝑒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𝑖𝑛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𝑃𝑟𝑖𝑐𝑒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𝑎𝑛𝑜𝑡h𝑒𝑟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𝑔𝑜𝑜𝑑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95400"/>
                <a:ext cx="7772400" cy="5178552"/>
              </a:xfrm>
              <a:blipFill rotWithShape="1">
                <a:blip r:embed="rId2"/>
                <a:stretch>
                  <a:fillRect l="-314" t="-16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530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Cross Elasticity of Demand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altLang="en-US" dirty="0" smtClean="0"/>
                  <a:t>This concept is often used to determine whether two goods are substitutes or complements and the degree to which one good is a complement to or substitute for another.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Substitutes: Price increases in one leads to a rise in Quantity demanded of the other good. So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AU" i="1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en-AU" b="0" i="0" smtClean="0">
                        <a:latin typeface="Cambria Math"/>
                      </a:rPr>
                      <m:t>&gt;0⇒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/>
                      </a:rPr>
                      <m:t>Goods</m:t>
                    </m:r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/>
                      </a:rPr>
                      <m:t>are</m:t>
                    </m:r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/>
                      </a:rPr>
                      <m:t>substitutes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Complements: </a:t>
                </a:r>
                <a:r>
                  <a:rPr lang="en-AU" dirty="0"/>
                  <a:t>Price increases in one leads to a </a:t>
                </a:r>
                <a:r>
                  <a:rPr lang="en-AU" dirty="0" smtClean="0"/>
                  <a:t>fall </a:t>
                </a:r>
                <a:r>
                  <a:rPr lang="en-AU" dirty="0"/>
                  <a:t>in Quantity demanded of the other good. So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AU" i="1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en-AU" b="0" i="0" smtClean="0">
                        <a:latin typeface="Cambria Math"/>
                      </a:rPr>
                      <m:t>&lt;</m:t>
                    </m:r>
                    <m:r>
                      <a:rPr lang="en-AU">
                        <a:latin typeface="Cambria Math"/>
                      </a:rPr>
                      <m:t>0⇒</m:t>
                    </m:r>
                    <m:r>
                      <m:rPr>
                        <m:sty m:val="p"/>
                      </m:rPr>
                      <a:rPr lang="en-AU">
                        <a:latin typeface="Cambria Math"/>
                      </a:rPr>
                      <m:t>Goods</m:t>
                    </m:r>
                    <m:r>
                      <a:rPr lang="en-AU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AU">
                        <a:latin typeface="Cambria Math"/>
                      </a:rPr>
                      <m:t>are</m:t>
                    </m:r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/>
                      </a:rPr>
                      <m:t>complements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The higher (bigger positive number) the cross elasticity of demand is </a:t>
                </a:r>
                <a:r>
                  <a:rPr lang="en-AU" dirty="0" smtClean="0">
                    <a:sym typeface="Wingdings" panose="05000000000000000000" pitchFamily="2" charset="2"/>
                  </a:rPr>
                  <a:t> greater degree of substitution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245" t="-2128" r="-1306" b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68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r>
              <a:rPr lang="en-AU" dirty="0" smtClean="0"/>
              <a:t>Income Elasticity of Demand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7848600" cy="5254752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en-US" dirty="0" smtClean="0"/>
                  <a:t>Measures the responsiveness of quantity demanded to changes in income.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dirty="0" smtClean="0"/>
              </a:p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Define as the percentage change in quantity demanded of a good divided by the percentage change in income.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𝑃𝑒𝑟𝑐𝑒𝑛𝑡𝑎𝑔𝑒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𝐶h𝑎𝑛𝑔𝑒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𝑖𝑛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𝑄𝑢𝑎𝑛𝑡𝑖𝑡𝑦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𝐷𝑒𝑚𝑎𝑛𝑑𝑒𝑑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𝑃𝑒𝑟𝑐𝑒𝑛𝑡𝑎𝑔𝑒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𝑐h𝑎𝑛𝑔𝑒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i="1">
                              <a:latin typeface="Cambria Math"/>
                            </a:rPr>
                            <m:t>𝑖𝑛</m:t>
                          </m:r>
                          <m:r>
                            <a:rPr lang="en-AU" i="1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𝐼𝑛𝑐𝑜𝑚𝑒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r>
                  <a:rPr lang="en-AU" dirty="0" smtClean="0"/>
                  <a:t>Since </a:t>
                </a:r>
                <a:r>
                  <a:rPr lang="en-US" dirty="0" smtClean="0"/>
                  <a:t>u</a:t>
                </a:r>
                <a:r>
                  <a:rPr lang="en-US" altLang="en-US" dirty="0" smtClean="0"/>
                  <a:t>sing </a:t>
                </a:r>
                <a:r>
                  <a:rPr lang="en-US" altLang="en-US" dirty="0"/>
                  <a:t>percentage changes can at times lead to conflicting </a:t>
                </a:r>
                <a:r>
                  <a:rPr lang="en-US" altLang="en-US" dirty="0" smtClean="0"/>
                  <a:t>results, the following is also used: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AU" i="1">
                              <a:latin typeface="Cambria Math"/>
                            </a:rPr>
                            <m:t>𝑑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  <a:ea typeface="Cambria Math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  <a:ea typeface="Cambria Math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  <a:ea typeface="Cambria Math"/>
                                    </a:rPr>
                                    <m:t>𝑑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𝑑</m:t>
                                  </m:r>
                                  <m:r>
                                    <a:rPr lang="en-AU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AU" i="1">
                                      <a:latin typeface="Cambria Math"/>
                                    </a:rPr>
                                    <m:t>𝐴𝑣𝑒𝑟𝑎𝑔𝑒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  <a:ea typeface="Cambria Math"/>
                                </a:rPr>
                                <m:t>Δ</m:t>
                              </m:r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𝑌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smtClean="0">
                                      <a:latin typeface="Cambria Math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𝑎𝑣𝑒𝑟𝑎𝑔𝑒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7848600" cy="5254752"/>
              </a:xfrm>
              <a:blipFill rotWithShape="1">
                <a:blip r:embed="rId2"/>
                <a:stretch>
                  <a:fillRect l="-233" t="-12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2727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Income Elasticity of </a:t>
            </a:r>
            <a:r>
              <a:rPr lang="en-AU" dirty="0" smtClean="0"/>
              <a:t>Demand (</a:t>
            </a:r>
            <a:r>
              <a:rPr lang="en-AU" dirty="0" err="1" smtClean="0"/>
              <a:t>Cont</a:t>
            </a:r>
            <a:r>
              <a:rPr lang="en-AU" dirty="0" smtClean="0"/>
              <a:t>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If Income </a:t>
            </a:r>
            <a:r>
              <a:rPr lang="en-US" altLang="en-US" dirty="0"/>
              <a:t>elasticity of demand is positive (</a:t>
            </a:r>
            <a:r>
              <a:rPr lang="en-US" altLang="en-US" dirty="0" err="1"/>
              <a:t>E</a:t>
            </a:r>
            <a:r>
              <a:rPr lang="en-US" altLang="en-US" baseline="-25000" dirty="0" err="1"/>
              <a:t>y</a:t>
            </a:r>
            <a:r>
              <a:rPr lang="en-US" altLang="en-US" dirty="0"/>
              <a:t> &gt; 0) </a:t>
            </a:r>
            <a:r>
              <a:rPr lang="en-US" altLang="en-US" dirty="0" smtClean="0">
                <a:sym typeface="Wingdings" panose="05000000000000000000" pitchFamily="2" charset="2"/>
              </a:rPr>
              <a:t> </a:t>
            </a:r>
            <a:r>
              <a:rPr lang="en-US" altLang="en-US" dirty="0" smtClean="0"/>
              <a:t>normal </a:t>
            </a:r>
            <a:r>
              <a:rPr lang="en-US" altLang="en-US" dirty="0"/>
              <a:t>good.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demand for an inferior good decreases as income increases</a:t>
            </a:r>
            <a:r>
              <a:rPr lang="en-US" altLang="en-US" dirty="0" smtClean="0"/>
              <a:t>. So if Income elasticity of demand is negative </a:t>
            </a:r>
            <a:r>
              <a:rPr lang="en-US" altLang="en-US" dirty="0"/>
              <a:t>(</a:t>
            </a:r>
            <a:r>
              <a:rPr lang="en-US" altLang="en-US" dirty="0" err="1"/>
              <a:t>E</a:t>
            </a:r>
            <a:r>
              <a:rPr lang="en-US" altLang="en-US" baseline="-25000" dirty="0" err="1"/>
              <a:t>y</a:t>
            </a:r>
            <a:r>
              <a:rPr lang="en-US" altLang="en-US" dirty="0"/>
              <a:t> </a:t>
            </a:r>
            <a:r>
              <a:rPr lang="en-US" altLang="en-US" dirty="0" smtClean="0"/>
              <a:t>&lt; </a:t>
            </a:r>
            <a:r>
              <a:rPr lang="en-US" altLang="en-US" dirty="0"/>
              <a:t>0) </a:t>
            </a:r>
            <a:r>
              <a:rPr lang="en-US" altLang="en-US" dirty="0" smtClean="0">
                <a:sym typeface="Wingdings" panose="05000000000000000000" pitchFamily="2" charset="2"/>
              </a:rPr>
              <a:t> inferior good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 smtClean="0">
              <a:sym typeface="Wingdings" panose="05000000000000000000" pitchFamily="2" charset="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 smtClean="0">
                <a:sym typeface="Wingdings" panose="05000000000000000000" pitchFamily="2" charset="2"/>
              </a:rPr>
              <a:t>Comparing %∆</a:t>
            </a:r>
            <a:r>
              <a:rPr lang="en-US" altLang="en-US" dirty="0" err="1" smtClean="0">
                <a:sym typeface="Wingdings" panose="05000000000000000000" pitchFamily="2" charset="2"/>
              </a:rPr>
              <a:t>Q</a:t>
            </a:r>
            <a:r>
              <a:rPr lang="en-US" altLang="en-US" sz="2000" dirty="0" err="1" smtClean="0">
                <a:sym typeface="Wingdings" panose="05000000000000000000" pitchFamily="2" charset="2"/>
              </a:rPr>
              <a:t>d</a:t>
            </a:r>
            <a:r>
              <a:rPr lang="en-US" altLang="en-US" dirty="0" smtClean="0">
                <a:sym typeface="Wingdings" panose="05000000000000000000" pitchFamily="2" charset="2"/>
              </a:rPr>
              <a:t> to </a:t>
            </a:r>
            <a:r>
              <a:rPr lang="en-US" altLang="en-US" dirty="0">
                <a:sym typeface="Wingdings" panose="05000000000000000000" pitchFamily="2" charset="2"/>
              </a:rPr>
              <a:t>%</a:t>
            </a:r>
            <a:r>
              <a:rPr lang="en-US" altLang="en-US" dirty="0" smtClean="0">
                <a:sym typeface="Wingdings" panose="05000000000000000000" pitchFamily="2" charset="2"/>
              </a:rPr>
              <a:t>∆P</a:t>
            </a:r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dirty="0"/>
              <a:t>If </a:t>
            </a:r>
            <a:r>
              <a:rPr lang="en-US" altLang="en-US" dirty="0">
                <a:sym typeface="Wingdings" panose="05000000000000000000" pitchFamily="2" charset="2"/>
              </a:rPr>
              <a:t>%∆</a:t>
            </a:r>
            <a:r>
              <a:rPr lang="en-US" altLang="en-US" dirty="0" err="1">
                <a:sym typeface="Wingdings" panose="05000000000000000000" pitchFamily="2" charset="2"/>
              </a:rPr>
              <a:t>Q</a:t>
            </a:r>
            <a:r>
              <a:rPr lang="en-US" altLang="en-US" sz="2000" dirty="0" err="1">
                <a:sym typeface="Wingdings" panose="05000000000000000000" pitchFamily="2" charset="2"/>
              </a:rPr>
              <a:t>d</a:t>
            </a:r>
            <a:r>
              <a:rPr lang="en-US" altLang="en-US" dirty="0">
                <a:sym typeface="Wingdings" panose="05000000000000000000" pitchFamily="2" charset="2"/>
              </a:rPr>
              <a:t> &gt;</a:t>
            </a:r>
            <a:r>
              <a:rPr lang="en-US" altLang="en-US" dirty="0" smtClean="0">
                <a:sym typeface="Wingdings" panose="05000000000000000000" pitchFamily="2" charset="2"/>
              </a:rPr>
              <a:t> </a:t>
            </a:r>
            <a:r>
              <a:rPr lang="en-US" altLang="en-US" dirty="0">
                <a:sym typeface="Wingdings" panose="05000000000000000000" pitchFamily="2" charset="2"/>
              </a:rPr>
              <a:t>%∆</a:t>
            </a:r>
            <a:r>
              <a:rPr lang="en-US" altLang="en-US" dirty="0" smtClean="0">
                <a:sym typeface="Wingdings" panose="05000000000000000000" pitchFamily="2" charset="2"/>
              </a:rPr>
              <a:t>P </a:t>
            </a:r>
            <a:r>
              <a:rPr lang="en-US" altLang="en-US" dirty="0" err="1" smtClean="0"/>
              <a:t>E</a:t>
            </a:r>
            <a:r>
              <a:rPr lang="en-US" altLang="en-US" baseline="-25000" dirty="0" err="1" smtClean="0"/>
              <a:t>y</a:t>
            </a:r>
            <a:r>
              <a:rPr lang="en-US" altLang="en-US" dirty="0" smtClean="0"/>
              <a:t> </a:t>
            </a:r>
            <a:r>
              <a:rPr lang="en-US" altLang="en-US" dirty="0"/>
              <a:t>&gt;1, demand is considered to be income </a:t>
            </a:r>
            <a:r>
              <a:rPr lang="en-US" altLang="en-US" dirty="0" smtClean="0"/>
              <a:t>elastic</a:t>
            </a:r>
            <a:endParaRPr lang="en-US" altLang="en-US" dirty="0"/>
          </a:p>
          <a:p>
            <a:r>
              <a:rPr lang="en-US" altLang="en-US" dirty="0"/>
              <a:t>If </a:t>
            </a:r>
            <a:r>
              <a:rPr lang="en-US" altLang="en-US" dirty="0">
                <a:sym typeface="Wingdings" panose="05000000000000000000" pitchFamily="2" charset="2"/>
              </a:rPr>
              <a:t>%∆</a:t>
            </a:r>
            <a:r>
              <a:rPr lang="en-US" altLang="en-US" dirty="0" err="1">
                <a:sym typeface="Wingdings" panose="05000000000000000000" pitchFamily="2" charset="2"/>
              </a:rPr>
              <a:t>Q</a:t>
            </a:r>
            <a:r>
              <a:rPr lang="en-US" altLang="en-US" sz="2000" dirty="0" err="1">
                <a:sym typeface="Wingdings" panose="05000000000000000000" pitchFamily="2" charset="2"/>
              </a:rPr>
              <a:t>d</a:t>
            </a:r>
            <a:r>
              <a:rPr lang="en-US" altLang="en-US" dirty="0">
                <a:sym typeface="Wingdings" panose="05000000000000000000" pitchFamily="2" charset="2"/>
              </a:rPr>
              <a:t> </a:t>
            </a:r>
            <a:r>
              <a:rPr lang="en-US" altLang="en-US" dirty="0" smtClean="0">
                <a:sym typeface="Wingdings" panose="05000000000000000000" pitchFamily="2" charset="2"/>
              </a:rPr>
              <a:t>&lt; </a:t>
            </a:r>
            <a:r>
              <a:rPr lang="en-US" altLang="en-US" dirty="0">
                <a:sym typeface="Wingdings" panose="05000000000000000000" pitchFamily="2" charset="2"/>
              </a:rPr>
              <a:t>%∆</a:t>
            </a:r>
            <a:r>
              <a:rPr lang="en-US" altLang="en-US" dirty="0" smtClean="0">
                <a:sym typeface="Wingdings" panose="05000000000000000000" pitchFamily="2" charset="2"/>
              </a:rPr>
              <a:t>P  </a:t>
            </a:r>
            <a:r>
              <a:rPr lang="en-US" altLang="en-US" dirty="0" err="1" smtClean="0"/>
              <a:t>E</a:t>
            </a:r>
            <a:r>
              <a:rPr lang="en-US" altLang="en-US" baseline="-25000" dirty="0" err="1" smtClean="0"/>
              <a:t>y</a:t>
            </a:r>
            <a:r>
              <a:rPr lang="en-US" altLang="en-US" dirty="0" smtClean="0"/>
              <a:t> </a:t>
            </a:r>
            <a:r>
              <a:rPr lang="en-US" altLang="en-US" dirty="0"/>
              <a:t>&lt;1, demand is considered to be income inelastic.</a:t>
            </a:r>
          </a:p>
          <a:p>
            <a:r>
              <a:rPr lang="en-US" altLang="en-US" dirty="0" smtClean="0"/>
              <a:t>If</a:t>
            </a:r>
            <a:r>
              <a:rPr lang="en-US" altLang="en-US" dirty="0">
                <a:sym typeface="Wingdings" panose="05000000000000000000" pitchFamily="2" charset="2"/>
              </a:rPr>
              <a:t> %∆</a:t>
            </a:r>
            <a:r>
              <a:rPr lang="en-US" altLang="en-US" dirty="0" err="1">
                <a:sym typeface="Wingdings" panose="05000000000000000000" pitchFamily="2" charset="2"/>
              </a:rPr>
              <a:t>Q</a:t>
            </a:r>
            <a:r>
              <a:rPr lang="en-US" altLang="en-US" sz="2000" dirty="0" err="1">
                <a:sym typeface="Wingdings" panose="05000000000000000000" pitchFamily="2" charset="2"/>
              </a:rPr>
              <a:t>d</a:t>
            </a:r>
            <a:r>
              <a:rPr lang="en-US" altLang="en-US" dirty="0">
                <a:sym typeface="Wingdings" panose="05000000000000000000" pitchFamily="2" charset="2"/>
              </a:rPr>
              <a:t> </a:t>
            </a:r>
            <a:r>
              <a:rPr lang="en-US" altLang="en-US" dirty="0" smtClean="0">
                <a:sym typeface="Wingdings" panose="05000000000000000000" pitchFamily="2" charset="2"/>
              </a:rPr>
              <a:t>= %</a:t>
            </a:r>
            <a:r>
              <a:rPr lang="en-US" altLang="en-US" dirty="0">
                <a:sym typeface="Wingdings" panose="05000000000000000000" pitchFamily="2" charset="2"/>
              </a:rPr>
              <a:t>∆</a:t>
            </a:r>
            <a:r>
              <a:rPr lang="en-US" altLang="en-US" dirty="0" smtClean="0">
                <a:sym typeface="Wingdings" panose="05000000000000000000" pitchFamily="2" charset="2"/>
              </a:rPr>
              <a:t>P </a:t>
            </a:r>
            <a:r>
              <a:rPr lang="en-US" altLang="en-US" dirty="0" smtClean="0"/>
              <a:t> </a:t>
            </a:r>
            <a:r>
              <a:rPr lang="en-US" altLang="en-US" dirty="0" err="1"/>
              <a:t>E</a:t>
            </a:r>
            <a:r>
              <a:rPr lang="en-US" altLang="en-US" baseline="-25000" dirty="0" err="1"/>
              <a:t>y</a:t>
            </a:r>
            <a:r>
              <a:rPr lang="en-US" altLang="en-US" dirty="0"/>
              <a:t> =1, demand is considered to be unit elastic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8174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r>
              <a:rPr lang="en-AU" dirty="0" smtClean="0"/>
              <a:t>Price Elasticity of Supply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en-US" dirty="0" smtClean="0"/>
                  <a:t>Measures the responsiveness of quantity supplied to changes in price.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Defined as the percentage change in quantity supplied of a good divided by the percentage change in the price of the good</a:t>
                </a:r>
                <a:r>
                  <a:rPr lang="en-US" altLang="en-US" dirty="0" smtClean="0"/>
                  <a:t>.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dirty="0" smtClean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AU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AU" i="1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AU" i="1">
                            <a:latin typeface="Cambria Math"/>
                          </a:rPr>
                        </m:ctrlPr>
                      </m:fPr>
                      <m:num>
                        <m:r>
                          <a:rPr lang="en-AU" i="1">
                            <a:latin typeface="Cambria Math"/>
                          </a:rPr>
                          <m:t>𝑃𝑒𝑟𝑐𝑒𝑛𝑡𝑎𝑔𝑒</m:t>
                        </m:r>
                        <m:r>
                          <a:rPr lang="en-AU" i="1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𝐶h𝑎𝑛𝑔𝑒</m:t>
                        </m:r>
                        <m:r>
                          <a:rPr lang="en-AU" i="1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𝑖𝑛</m:t>
                        </m:r>
                        <m:r>
                          <a:rPr lang="en-AU" i="1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𝑄𝑢𝑎𝑛𝑡𝑖𝑡𝑦</m:t>
                        </m:r>
                        <m:r>
                          <a:rPr lang="en-AU" i="1">
                            <a:latin typeface="Cambria Math"/>
                          </a:rPr>
                          <m:t> </m:t>
                        </m:r>
                        <m:r>
                          <a:rPr lang="en-AU" b="0" i="1" smtClean="0">
                            <a:latin typeface="Cambria Math"/>
                          </a:rPr>
                          <m:t>𝑆𝑢𝑝𝑝𝑙𝑖</m:t>
                        </m:r>
                        <m:r>
                          <a:rPr lang="en-AU" i="1">
                            <a:latin typeface="Cambria Math"/>
                          </a:rPr>
                          <m:t>𝑒𝑑</m:t>
                        </m:r>
                      </m:num>
                      <m:den>
                        <m:r>
                          <a:rPr lang="en-AU" i="1">
                            <a:latin typeface="Cambria Math"/>
                          </a:rPr>
                          <m:t>𝑃𝑒𝑟𝑐𝑒𝑛𝑡𝑎𝑔𝑒</m:t>
                        </m:r>
                        <m:r>
                          <a:rPr lang="en-AU" i="1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𝑐h𝑎𝑛𝑔𝑒</m:t>
                        </m:r>
                        <m:r>
                          <a:rPr lang="en-AU" i="1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𝑖𝑛</m:t>
                        </m:r>
                        <m:r>
                          <a:rPr lang="en-AU" i="1">
                            <a:latin typeface="Cambria Math"/>
                          </a:rPr>
                          <m:t> </m:t>
                        </m:r>
                        <m:r>
                          <a:rPr lang="en-AU" b="0" i="1" smtClean="0">
                            <a:latin typeface="Cambria Math"/>
                          </a:rPr>
                          <m:t>𝑃𝑟𝑖𝑐𝑒</m:t>
                        </m:r>
                      </m:den>
                    </m:f>
                  </m:oMath>
                </a14:m>
                <a:endParaRPr lang="en-AU" dirty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dirty="0"/>
              </a:p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Supply can be classified as elastic, inelastic, unit elastic, perfectly elastic, or perfectly inelastic.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327" t="-1752" r="-2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748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r>
              <a:rPr lang="en-AU" dirty="0"/>
              <a:t>Price Elasticity of Supply</a:t>
            </a:r>
          </a:p>
        </p:txBody>
      </p:sp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469635" y="1219200"/>
            <a:ext cx="7864475" cy="5551488"/>
            <a:chOff x="946" y="791"/>
            <a:chExt cx="3853" cy="2746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946" y="791"/>
              <a:ext cx="3853" cy="27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pic>
          <p:nvPicPr>
            <p:cNvPr id="6" name="Picture 4" descr="D:\ESWORK\SWPUB\Arnold PPT\Art\Art Ch18\arn17456_1806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3" y="826"/>
              <a:ext cx="3754" cy="2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55241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Price Elasticity of Supply and Time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/>
              <a:t>The longer the period of adjustment to a change in price, the higher the price elasticity of supply.</a:t>
            </a:r>
          </a:p>
          <a:p>
            <a:r>
              <a:rPr lang="en-US" altLang="en-US" dirty="0"/>
              <a:t>Additional production takes time.</a:t>
            </a:r>
          </a:p>
          <a:p>
            <a:r>
              <a:rPr lang="en-US" altLang="en-US" dirty="0"/>
              <a:t>Reducing production takes time.</a:t>
            </a:r>
          </a:p>
          <a:p>
            <a:r>
              <a:rPr lang="en-AU" dirty="0" smtClean="0"/>
              <a:t>Example: Housing market.</a:t>
            </a:r>
          </a:p>
          <a:p>
            <a:pPr>
              <a:buFont typeface="Wingdings"/>
              <a:buChar char="è"/>
            </a:pPr>
            <a:r>
              <a:rPr lang="en-AU" dirty="0" smtClean="0"/>
              <a:t>If price increases of houses, will we be able to increase houses in short run? No.</a:t>
            </a:r>
          </a:p>
          <a:p>
            <a:pPr>
              <a:buFont typeface="Wingdings"/>
              <a:buChar char="è"/>
            </a:pPr>
            <a:r>
              <a:rPr lang="en-AU" dirty="0" smtClean="0"/>
              <a:t>In long run? Yes </a:t>
            </a:r>
            <a:r>
              <a:rPr lang="en-AU" dirty="0" smtClean="0">
                <a:sym typeface="Wingdings" panose="05000000000000000000" pitchFamily="2" charset="2"/>
              </a:rPr>
              <a:t> Dedicate more resources from production of other things to produce houses, hence increasing supply. Price Elasticity of Supply Increases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52168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of the Four Elasticity Concepts</a:t>
            </a:r>
            <a:endParaRPr lang="en-AU" dirty="0"/>
          </a:p>
        </p:txBody>
      </p:sp>
      <p:pic>
        <p:nvPicPr>
          <p:cNvPr id="5" name="Picture 5" descr="D:\ESWORK\SWPUB\Arnold PPT\Art\Art Ch18\Ch18 EX7 tab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3" y="1828800"/>
            <a:ext cx="8968197" cy="404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00997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162</TotalTime>
  <Words>918</Words>
  <Application>Microsoft Office PowerPoint</Application>
  <PresentationFormat>On-screen Show (4:3)</PresentationFormat>
  <Paragraphs>73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Oriel</vt:lpstr>
      <vt:lpstr>Elasticity (Part 2)</vt:lpstr>
      <vt:lpstr>Price Elasticity of Demand Along a Straight-Line Demand Curve</vt:lpstr>
      <vt:lpstr>Price Elasticity of Demand Along a Straight-Line Demand Curve (Cont)</vt:lpstr>
      <vt:lpstr>Determinants of Price Elasticity of Demand</vt:lpstr>
      <vt:lpstr>Determinants of Price Elasticity of Demand (Cont)</vt:lpstr>
      <vt:lpstr>Determinants of Price Elasticity of Demand (Cont)</vt:lpstr>
      <vt:lpstr>Cross Elasticity of Demand</vt:lpstr>
      <vt:lpstr>Cross Elasticity of Demand</vt:lpstr>
      <vt:lpstr>Income Elasticity of Demand</vt:lpstr>
      <vt:lpstr>Income Elasticity of Demand (Cont)</vt:lpstr>
      <vt:lpstr>Price Elasticity of Supply</vt:lpstr>
      <vt:lpstr>Price Elasticity of Supply</vt:lpstr>
      <vt:lpstr>Price Elasticity of Supply and Time</vt:lpstr>
      <vt:lpstr>Summary of the Four Elasticity Concepts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Elasticity (Part 2) Consumer Choice: Maximizing Utility (Part 1)</dc:title>
  <dc:creator>User</dc:creator>
  <cp:lastModifiedBy>User</cp:lastModifiedBy>
  <cp:revision>17</cp:revision>
  <cp:lastPrinted>2014-06-23T04:58:01Z</cp:lastPrinted>
  <dcterms:created xsi:type="dcterms:W3CDTF">2006-08-16T00:00:00Z</dcterms:created>
  <dcterms:modified xsi:type="dcterms:W3CDTF">2014-06-23T05:05:29Z</dcterms:modified>
</cp:coreProperties>
</file>